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Avg. Delivery Time by Route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Time (min)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9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9E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Standard Route</c:v>
                  </c:pt>
                  <c:pt idx="1">
                    <c:v>Optimized Route</c:v>
                  </c:pt>
                  <c:pt idx="2">
                    <c:v>Weather-Adj.</c:v>
                  </c:pt>
                  <c:pt idx="3">
                    <c:v>Peak-Hour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38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Optimization</c:v>
                </c:pt>
              </c:strCache>
            </c:strRef>
          </c:tx>
          <c:spPr>
            <a:solidFill>
              <a:srgbClr val="93B4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Delivery Time</c:v>
                  </c:pt>
                  <c:pt idx="1">
                    <c:v>Energy Use</c:v>
                  </c:pt>
                  <c:pt idx="2">
                    <c:v>Failed Routes</c:v>
                  </c:pt>
                  <c:pt idx="3">
                    <c:v>Cost Index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100</c:v>
                </c:pt>
                <c:pt idx="2">
                  <c:v>12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Optimization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Delivery Time</c:v>
                  </c:pt>
                  <c:pt idx="1">
                    <c:v>Energy Use</c:v>
                  </c:pt>
                  <c:pt idx="2">
                    <c:v>Failed Routes</c:v>
                  </c:pt>
                  <c:pt idx="3">
                    <c:v>Cost Index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</c:v>
                </c:pt>
                <c:pt idx="1">
                  <c:v>83</c:v>
                </c:pt>
                <c:pt idx="2">
                  <c:v>4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4389120"/>
            <a:ext cx="621792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58768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17136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5504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3872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0608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08976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365760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5504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3872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08976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67344" y="1024128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5504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3872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08976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344" y="1682496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8768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17136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5504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33872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50608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08976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67344" y="2340864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8768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7136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75504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33872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08976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67344" y="2999232"/>
            <a:ext cx="64008" cy="64008"/>
          </a:xfrm>
          <a:prstGeom prst="ellipse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C9E0"/>
                </a:solidFill>
              </a:rPr>
              <a:t>DATA SIMULATION</a:t>
            </a:r>
            <a:endParaRPr lang="en-US" sz="9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1920240" cy="1920240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137160" y="2926080"/>
            <a:ext cx="265176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2E86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13716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15%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37160" y="32186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0D6"/>
                </a:solidFill>
              </a:rPr>
              <a:t>Faster Delivery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137160" y="3584448"/>
            <a:ext cx="265176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2E86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137160" y="3630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↓ Cost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37160" y="38770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0D6"/>
                </a:solidFill>
              </a:rPr>
              <a:t>Operational Savings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137160" y="4242816"/>
            <a:ext cx="265176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2E86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137160" y="4288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24/7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37160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0D6"/>
                </a:solidFill>
              </a:rPr>
              <a:t>Autonomous Ops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108960" y="10058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DRONE DELIVERY</a:t>
            </a:r>
            <a:endParaRPr lang="en-US" sz="3800" dirty="0"/>
          </a:p>
        </p:txBody>
      </p:sp>
      <p:sp>
        <p:nvSpPr>
          <p:cNvPr id="62" name="Text 59"/>
          <p:cNvSpPr/>
          <p:nvPr/>
        </p:nvSpPr>
        <p:spPr>
          <a:xfrm>
            <a:off x="3108960" y="1783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C9E0"/>
                </a:solidFill>
              </a:rPr>
              <a:t>NETWORK</a:t>
            </a:r>
            <a:endParaRPr lang="en-US" sz="3800" dirty="0"/>
          </a:p>
        </p:txBody>
      </p:sp>
      <p:sp>
        <p:nvSpPr>
          <p:cNvPr id="63" name="Text 60"/>
          <p:cNvSpPr/>
          <p:nvPr/>
        </p:nvSpPr>
        <p:spPr>
          <a:xfrm>
            <a:off x="3108960" y="25420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OPTIMIZATION</a:t>
            </a:r>
            <a:endParaRPr lang="en-US" sz="3800" dirty="0"/>
          </a:p>
        </p:txBody>
      </p:sp>
      <p:sp>
        <p:nvSpPr>
          <p:cNvPr id="64" name="Shape 61"/>
          <p:cNvSpPr/>
          <p:nvPr/>
        </p:nvSpPr>
        <p:spPr>
          <a:xfrm>
            <a:off x="3108960" y="3474720"/>
            <a:ext cx="10058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108960" y="3657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0D6"/>
                </a:solidFill>
              </a:rPr>
              <a:t>Designing efficient autonomous delivery systems through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C0D6"/>
                </a:solidFill>
              </a:rPr>
              <a:t>simulation, route optimization &amp; hub placement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9E0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What We Set Out to Solve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466"/>
                </a:solidFill>
              </a:rPr>
              <a:t>Urban and suburban logistics face a critical bottleneck: last-mile delivery costs account for over 50% of total shipping expenses. Autonomous drone networks offer a transformative solution—but only when optimally designed.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2651760" cy="7315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66"/>
                </a:solidFill>
              </a:rPr>
              <a:t>Last-mile delivery is inefficient, expensive, and slow under traditional models.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28600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880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66"/>
                </a:solidFill>
              </a:rPr>
              <a:t>Build a simulation model analyzing geographic data, flight paths, and real-world constraints.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286000"/>
            <a:ext cx="26517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GOAL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8803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66"/>
                </a:solidFill>
              </a:rPr>
              <a:t>Minimize delivery times and costs through optimized routing and strategic hub placement.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C9E0"/>
                </a:solidFill>
              </a:rPr>
              <a:t>SIMULATION MODEL  •  GEOGRAPHIC ANALYSIS  •  ROUTE OPTIMIZATION  •  HUB PLACEMENT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9E0"/>
                </a:solidFill>
              </a:rPr>
              <a:t>SIMULATION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Variables &amp; Parameters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20624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41732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0"/>
                </a:solidFill>
              </a:rPr>
              <a:t>Battery Life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0D6"/>
                </a:solidFill>
              </a:rPr>
              <a:t>Each drone operates on a charge-cycle model. Simulation tracks energy consumption based on payload, altitude, and distance to ensure no delivery exceeds 80% battery capacity mid-route.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463040"/>
            <a:ext cx="420624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463040"/>
            <a:ext cx="64008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5727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Payload Weight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65192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0D6"/>
                </a:solidFill>
              </a:rPr>
              <a:t>Variable load capacities from 0.5 kg to 5 kg are modeled. Heavier payloads increase energy draw and reduce max range, dynamically affecting route feasibility scores.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420624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08960"/>
            <a:ext cx="64008" cy="1417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186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Weather Conditions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0352" y="3611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0D6"/>
                </a:solidFill>
              </a:rPr>
              <a:t>Wind speed, precipitation, and visibility constraints are integrated via a probabilistic weather layer. Routes receive real-time viability scores and fallback paths are auto-generated.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108960"/>
            <a:ext cx="4206240" cy="1417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3108960"/>
            <a:ext cx="64008" cy="1417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186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22392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DE"/>
                </a:solidFill>
              </a:rPr>
              <a:t>Geographic Data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65192" y="3611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0D6"/>
                </a:solidFill>
              </a:rPr>
              <a:t>3D terrain maps and no-fly zones inform altitude planning. Urban density grids guide hub placement clustering algorithms to minimize average delivery radius.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D6"/>
                </a:solidFill>
              </a:rPr>
              <a:t>Monte Carlo simulation runs: 10,000+  |  Grid resolution: 500m  |  Scenarios tested: 48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9E0"/>
                </a:solidFill>
              </a:rPr>
              <a:t>ROUTE OPTIMIZATION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Algorithm &amp; Flight Path Planning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0292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Graph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Delivery zone mapped as weighted directed graph; edges encode energy cost, time, and risk score.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58568"/>
            <a:ext cx="50292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58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Dijkstra + Constraint Pruning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Modified shortest-path with battery &amp; payload constraints eliminates infeasible routes early.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998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99816"/>
            <a:ext cx="50292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98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638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Dynamic Re-routing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381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On weather alerts or battery degradation, real-time path recalculation triggers within 200ms.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4106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41064"/>
            <a:ext cx="50292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410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0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0050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Multi-Drone Coordination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79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66"/>
                </a:solidFill>
              </a:rPr>
              <a:t>Conflict resolution layer schedules altitude bands and time slots to prevent corridor collisions.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754880" y="11887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34466"/>
                </a:solidFill>
              </a:rPr>
              <a:t>15% average reduction in delivery time achieved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334466"/>
                </a:solidFill>
              </a:rPr>
              <a:t>through dynamic route optimization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00C9E0"/>
                </a:solidFill>
              </a:rPr>
              <a:t>Algorithms benchmarked: Dijkstra  •  A*  •  Ant Colony Optimization  •  Genetic Algorithm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9E0"/>
                </a:solidFill>
              </a:rPr>
              <a:t>HUB PLACEMENT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Optimal Hub Positioning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23360" y="1828800"/>
            <a:ext cx="1097280" cy="1097280"/>
          </a:xfrm>
          <a:prstGeom prst="ellipse">
            <a:avLst/>
          </a:prstGeom>
          <a:solidFill>
            <a:srgbClr val="00C9E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HUB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40280" y="1508760"/>
            <a:ext cx="2331720" cy="868680"/>
          </a:xfrm>
          <a:prstGeom prst="line">
            <a:avLst/>
          </a:prstGeom>
          <a:noFill/>
          <a:ln w="12700">
            <a:solidFill>
              <a:srgbClr val="2E86D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1097280"/>
            <a:ext cx="822960" cy="822960"/>
          </a:xfrm>
          <a:prstGeom prst="ellipse">
            <a:avLst/>
          </a:prstGeom>
          <a:solidFill>
            <a:srgbClr val="1B4F8A"/>
          </a:solidFill>
          <a:ln w="19050">
            <a:solidFill>
              <a:srgbClr val="00C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SAT-1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29400" y="1508760"/>
            <a:ext cx="-2057400" cy="868680"/>
          </a:xfrm>
          <a:prstGeom prst="line">
            <a:avLst/>
          </a:prstGeom>
          <a:noFill/>
          <a:ln w="12700">
            <a:solidFill>
              <a:srgbClr val="2E86D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217920" y="1097280"/>
            <a:ext cx="822960" cy="822960"/>
          </a:xfrm>
          <a:prstGeom prst="ellipse">
            <a:avLst/>
          </a:prstGeom>
          <a:solidFill>
            <a:srgbClr val="1B4F8A"/>
          </a:solidFill>
          <a:ln w="19050">
            <a:solidFill>
              <a:srgbClr val="00C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SAT-2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40280" y="3611880"/>
            <a:ext cx="2331720" cy="-1234440"/>
          </a:xfrm>
          <a:prstGeom prst="line">
            <a:avLst/>
          </a:prstGeom>
          <a:noFill/>
          <a:ln w="12700">
            <a:solidFill>
              <a:srgbClr val="2E86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828800" y="3200400"/>
            <a:ext cx="822960" cy="822960"/>
          </a:xfrm>
          <a:prstGeom prst="ellipse">
            <a:avLst/>
          </a:prstGeom>
          <a:solidFill>
            <a:srgbClr val="1B4F8A"/>
          </a:solidFill>
          <a:ln w="19050">
            <a:solidFill>
              <a:srgbClr val="00C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SAT-3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29400" y="3611880"/>
            <a:ext cx="-2057400" cy="-1234440"/>
          </a:xfrm>
          <a:prstGeom prst="line">
            <a:avLst/>
          </a:prstGeom>
          <a:noFill/>
          <a:ln w="12700">
            <a:solidFill>
              <a:srgbClr val="2E86D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217920" y="3200400"/>
            <a:ext cx="822960" cy="822960"/>
          </a:xfrm>
          <a:prstGeom prst="ellipse">
            <a:avLst/>
          </a:prstGeom>
          <a:solidFill>
            <a:srgbClr val="1B4F8A"/>
          </a:solidFill>
          <a:ln w="19050">
            <a:solidFill>
              <a:srgbClr val="00C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SAT-4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4840" y="4251960"/>
            <a:ext cx="137160" cy="-1874520"/>
          </a:xfrm>
          <a:prstGeom prst="line">
            <a:avLst/>
          </a:prstGeom>
          <a:noFill/>
          <a:ln w="12700">
            <a:solidFill>
              <a:srgbClr val="2E86D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023360" y="3840480"/>
            <a:ext cx="822960" cy="822960"/>
          </a:xfrm>
          <a:prstGeom prst="ellipse">
            <a:avLst/>
          </a:prstGeom>
          <a:solidFill>
            <a:srgbClr val="1B4F8A"/>
          </a:solidFill>
          <a:ln w="19050">
            <a:solidFill>
              <a:srgbClr val="00C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SAT-5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0" y="1188720"/>
            <a:ext cx="160020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2252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E0"/>
                </a:solidFill>
              </a:rPr>
              <a:t>8 km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15910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Hub Coverage Radius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15200" y="176479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C0D6"/>
                </a:solidFill>
              </a:rPr>
              <a:t>per satellite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15200" y="2148840"/>
            <a:ext cx="160020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1854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E0"/>
                </a:solidFill>
              </a:rPr>
              <a:t>3.2 km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25511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Avg. Distance to Hub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15200" y="272491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C0D6"/>
                </a:solidFill>
              </a:rPr>
              <a:t>across all zones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15200" y="3108960"/>
            <a:ext cx="160020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E0"/>
                </a:solidFill>
              </a:rPr>
              <a:t>94%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35112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Network Redundancy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15200" y="368503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C0D6"/>
                </a:solidFill>
              </a:rPr>
              <a:t>uptime guaranteed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15200" y="4069080"/>
            <a:ext cx="160020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0" y="41056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E0"/>
                </a:solidFill>
              </a:rPr>
              <a:t>&lt; 8 min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4471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Charging Turnaround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15200" y="46451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C0D6"/>
                </a:solidFill>
              </a:rPr>
              <a:t>full recharge cycle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C0D6"/>
                </a:solidFill>
              </a:rPr>
              <a:t>K-Means Clustering  +  Coverage Optimization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D6"/>
                </a:solidFill>
              </a:rPr>
              <a:t>Hub placement algorithm reduced average last-mile distance by 22% vs. random placement baseline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9E0"/>
                </a:solidFill>
              </a:rPr>
              <a:t>SIMULATION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Key Outcomes &amp; Performance Gains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DE"/>
                </a:solidFill>
              </a:rPr>
              <a:t>15%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Delivery Times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1732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22%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2176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Lower Last-Mile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Distance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19202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</a:rPr>
              <a:t>94%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2176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417320"/>
            <a:ext cx="1920240" cy="64008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E0"/>
                </a:solidFill>
              </a:rPr>
              <a:t>↓18%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12280" y="2176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Operational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466"/>
                </a:solidFill>
              </a:rPr>
              <a:t>Cost Savings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3017520"/>
          <a:ext cx="84124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E0"/>
                </a:solidFill>
              </a:rPr>
              <a:t>Results based on simulation across 48 scenario combinations with 10,000+ Monte Carlo iterations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2550">
              <a:alpha val="60000"/>
            </a:srgbClr>
          </a:solidFill>
          <a:ln w="12700">
            <a:solidFill>
              <a:srgbClr val="0D255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91830">
              <a:alpha val="70000"/>
            </a:srgbClr>
          </a:solidFill>
          <a:ln w="12700">
            <a:solidFill>
              <a:srgbClr val="091830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9E0"/>
                </a:solidFill>
              </a:rPr>
              <a:t>CONCLUSIONS &amp; NEXT STEPS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simulation confirms that intelligent drone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network design delivers measurable gains.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3911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0299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D6"/>
                </a:solidFill>
              </a:rPr>
              <a:t>15% theoretical reduction in delivery times through route optimization alone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7249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715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D6"/>
                </a:solidFill>
              </a:rPr>
              <a:t>Hub placement strategy significantly reduces average last-mile travel distance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41071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4015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D6"/>
                </a:solidFill>
              </a:rPr>
              <a:t>Weather-adaptive routing improves network reliability under adverse conditions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09651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0873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0D6"/>
                </a:solidFill>
              </a:rPr>
              <a:t>Real-world pilot deployment recommended for 3 urban zones to validate simulation findings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4617720"/>
            <a:ext cx="2926080" cy="365760"/>
          </a:xfrm>
          <a:prstGeom prst="rect">
            <a:avLst/>
          </a:prstGeom>
          <a:solidFill>
            <a:srgbClr val="00C9E0"/>
          </a:solidFill>
          <a:ln w="12700">
            <a:solidFill>
              <a:srgbClr val="00C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5720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PROCEED TO PILOT PHASE →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657600" y="46908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Drone Delivery Network Optimization  |  Data Simulation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Delivery Network Optimization</dc:title>
  <dc:subject>PptxGenJS Presentation</dc:subject>
  <dc:creator>PptxGenJS</dc:creator>
  <cp:lastModifiedBy>PptxGenJS</cp:lastModifiedBy>
  <cp:revision>1</cp:revision>
  <dcterms:created xsi:type="dcterms:W3CDTF">2026-04-22T08:05:10Z</dcterms:created>
  <dcterms:modified xsi:type="dcterms:W3CDTF">2026-04-22T08:05:10Z</dcterms:modified>
</cp:coreProperties>
</file>